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90337" y="3521242"/>
            <a:ext cx="7106652" cy="924169"/>
          </a:xfrm>
        </p:spPr>
        <p:txBody>
          <a:bodyPr vert="horz" lIns="91440" tIns="45720" rIns="91440" bIns="45720" rtlCol="0" anchor="t">
            <a:noAutofit/>
          </a:bodyPr>
          <a:lstStyle/>
          <a:p>
            <a:pPr algn="r"/>
            <a:r>
              <a:rPr lang="en-US" b="0" dirty="0">
                <a:solidFill>
                  <a:schemeClr val="tx1"/>
                </a:solidFill>
              </a:rPr>
              <a:t>Student Name – Harshit Suryawanshi</a:t>
            </a:r>
          </a:p>
          <a:p>
            <a:pPr algn="r"/>
            <a:r>
              <a:rPr lang="en-US" b="0" dirty="0">
                <a:solidFill>
                  <a:schemeClr val="tx1"/>
                </a:solidFill>
              </a:rPr>
              <a:t>College Name – Yeshwantrao Chavan College Of Engineering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917447"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363183" cy="369332"/>
          </a:xfrm>
          <a:prstGeom prst="rect">
            <a:avLst/>
          </a:prstGeom>
          <a:noFill/>
        </p:spPr>
        <p:txBody>
          <a:bodyPr wrap="square" rtlCol="0">
            <a:spAutoFit/>
          </a:bodyPr>
          <a:lstStyle/>
          <a:p>
            <a:r>
              <a:rPr lang="en-US" b="1" dirty="0"/>
              <a:t>AICTE STU ID : </a:t>
            </a:r>
            <a:r>
              <a:rPr lang="en-IN" dirty="0"/>
              <a:t>STU69e24463826811776436323</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193040"/>
            <a:ext cx="6276109" cy="1154498"/>
          </a:xfrm>
        </p:spPr>
        <p:txBody>
          <a:bodyPr>
            <a:normAutofit fontScale="90000"/>
          </a:bodyPr>
          <a:lstStyle/>
          <a:p>
            <a:r>
              <a:rPr lang="en-GB" sz="3100" dirty="0"/>
              <a:t>Project Description -:</a:t>
            </a:r>
            <a:br>
              <a:rPr lang="en-GB" sz="1600" dirty="0"/>
            </a:br>
            <a:br>
              <a:rPr lang="en-GB" dirty="0"/>
            </a:br>
            <a:r>
              <a:rPr lang="en-IN" sz="2000" dirty="0">
                <a:latin typeface="Aptos Narrow" panose="020B0004020202020204" pitchFamily="34" charset="0"/>
              </a:rPr>
              <a:t>This project provides a data-driven investigation into seasonal variations in agricultural performance using advanced data analytics techniques.</a:t>
            </a:r>
            <a:r>
              <a:rPr lang="en-IN" dirty="0">
                <a:latin typeface="Aptos Narrow" panose="020B0004020202020204" pitchFamily="34" charset="0"/>
              </a:rPr>
              <a:t> </a:t>
            </a:r>
            <a:r>
              <a:rPr lang="en-IN" sz="2000" dirty="0">
                <a:latin typeface="Aptos Narrow" panose="020B0004020202020204" pitchFamily="34" charset="0"/>
              </a:rPr>
              <a:t>Agricultural outcomes are heavily influenced by environmental conditions, resource inputs, and farming practices, leading to distinct performance fluctuations across seasons like Kharif, Rabi, and Zaid. The raw dataset was processed cleaned, and analyzed to evaluate key metrics including yield, revenue, net profit, water efficiency, and pest/disease risk. Through exploratory data analysis and statistical visualization, the project highlights</a:t>
            </a:r>
            <a:r>
              <a:rPr lang="en-IN" dirty="0">
                <a:latin typeface="Aptos Narrow" panose="020B0004020202020204" pitchFamily="34" charset="0"/>
              </a:rPr>
              <a:t> </a:t>
            </a:r>
            <a:r>
              <a:rPr lang="en-IN" sz="2000" dirty="0">
                <a:latin typeface="Aptos Narrow" panose="020B0004020202020204" pitchFamily="34" charset="0"/>
              </a:rPr>
              <a:t>critical seasonal trends, identifies loss-making patterns during dry months, and delivers actionable, evidence-based recommendations for crop planning and resource management</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8639209" cy="4302125"/>
          </a:xfrm>
        </p:spPr>
        <p:txBody>
          <a:bodyPr>
            <a:normAutofit/>
          </a:bodyPr>
          <a:lstStyle/>
          <a:p>
            <a:pPr lvl="0"/>
            <a:r>
              <a:rPr lang="en-IN" b="1" dirty="0"/>
              <a:t>Agricultural Planners &amp; Policy Makers</a:t>
            </a:r>
            <a:r>
              <a:rPr lang="en-IN" dirty="0"/>
              <a:t>: Use seasonal trends and efficiency data to allocate resources, manage subsidies, and design regional farming policies. </a:t>
            </a:r>
          </a:p>
          <a:p>
            <a:pPr lvl="0"/>
            <a:r>
              <a:rPr lang="en-IN" b="1" dirty="0"/>
              <a:t>Farmers &amp; Agricultural Advisors</a:t>
            </a:r>
            <a:r>
              <a:rPr lang="en-IN" dirty="0"/>
              <a:t>: Rely on yield predictions, disease risk alerts, and irrigation efficiency metrics to optimize crop selection and timing. </a:t>
            </a:r>
          </a:p>
          <a:p>
            <a:pPr lvl="0"/>
            <a:r>
              <a:rPr lang="en-IN" b="1" dirty="0"/>
              <a:t>Agri-Business &amp; Supply Chain Managers</a:t>
            </a:r>
            <a:r>
              <a:rPr lang="en-IN" dirty="0"/>
              <a:t>: Leverage seasonal production patterns to forecast market supply, optimize pricing, and streamline distribution logistics. </a:t>
            </a:r>
          </a:p>
          <a:p>
            <a:pPr lvl="0"/>
            <a:r>
              <a:rPr lang="en-IN" b="1" dirty="0"/>
              <a:t>Data Scientists &amp; Researchers</a:t>
            </a:r>
            <a:r>
              <a:rPr lang="en-IN" dirty="0"/>
              <a:t>: Utilize the foundational dataset, cleaning pipelines, and exploratory findings for further modeling and climate impact research.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8994014" cy="5243448"/>
          </a:xfrm>
        </p:spPr>
        <p:txBody>
          <a:bodyPr/>
          <a:lstStyle/>
          <a:p>
            <a:pPr lvl="0"/>
            <a:r>
              <a:rPr lang="en-IN" b="1" dirty="0"/>
              <a:t>Programming Language</a:t>
            </a:r>
            <a:r>
              <a:rPr lang="en-IN" dirty="0"/>
              <a:t>: Python (3.x)</a:t>
            </a:r>
          </a:p>
          <a:p>
            <a:pPr lvl="0"/>
            <a:r>
              <a:rPr lang="en-IN" b="1" dirty="0"/>
              <a:t>Data Manipulation &amp; Processing</a:t>
            </a:r>
            <a:r>
              <a:rPr lang="en-IN" dirty="0"/>
              <a:t>: Pandas, NumPy</a:t>
            </a:r>
          </a:p>
          <a:p>
            <a:pPr lvl="0"/>
            <a:r>
              <a:rPr lang="en-IN" b="1" dirty="0"/>
              <a:t>Data Visualization</a:t>
            </a:r>
            <a:r>
              <a:rPr lang="en-IN" dirty="0"/>
              <a:t>: Seaborn, Matplotlib</a:t>
            </a:r>
          </a:p>
          <a:p>
            <a:pPr lvl="0"/>
            <a:r>
              <a:rPr lang="en-IN" b="1" dirty="0"/>
              <a:t>Execution Environment</a:t>
            </a:r>
            <a:r>
              <a:rPr lang="en-IN" dirty="0"/>
              <a:t>: Google </a:t>
            </a:r>
            <a:r>
              <a:rPr lang="en-IN" dirty="0" err="1"/>
              <a:t>Colab</a:t>
            </a:r>
            <a:r>
              <a:rPr lang="en-IN" dirty="0"/>
              <a:t> / Jupyter Notebook</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451811"/>
            <a:ext cx="7868513" cy="489638"/>
          </a:xfrm>
          <a:prstGeom prst="rect">
            <a:avLst/>
          </a:prstGeom>
        </p:spPr>
        <p:txBody>
          <a:bodyPr vert="horz" lIns="91440" tIns="45720" rIns="91440" bIns="45720" rtlCol="0">
            <a:normAutofit fontScale="77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2000" dirty="0"/>
              <a:t>This Compares net financial returns across seasons, revealing strong profits in Kharif and Rabi alongside distinct losses during Zaid. </a:t>
            </a:r>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DBC7A37-51F0-7180-83B3-DFC6117A6219}"/>
              </a:ext>
            </a:extLst>
          </p:cNvPr>
          <p:cNvPicPr>
            <a:picLocks noChangeAspect="1"/>
          </p:cNvPicPr>
          <p:nvPr/>
        </p:nvPicPr>
        <p:blipFill>
          <a:blip r:embed="rId3"/>
          <a:stretch>
            <a:fillRect/>
          </a:stretch>
        </p:blipFill>
        <p:spPr>
          <a:xfrm>
            <a:off x="904447" y="2502592"/>
            <a:ext cx="6346585" cy="356934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237667" y="1439461"/>
            <a:ext cx="8729870" cy="666077"/>
          </a:xfrm>
        </p:spPr>
        <p:txBody>
          <a:bodyPr>
            <a:normAutofit fontScale="92500" lnSpcReduction="10000"/>
          </a:bodyPr>
          <a:lstStyle/>
          <a:p>
            <a:pPr marL="0" indent="0">
              <a:buNone/>
            </a:pPr>
            <a:r>
              <a:rPr lang="en-US" dirty="0"/>
              <a:t>This screenshot </a:t>
            </a:r>
            <a:r>
              <a:rPr lang="en-IN" dirty="0"/>
              <a:t>Evaluates individual crop productivity across seasons, showing how Kharif weather conditions consistently maximize crop yields</a:t>
            </a:r>
            <a:r>
              <a:rPr lang="en-US" dirty="0"/>
              <a:t> </a:t>
            </a:r>
            <a:endParaRPr lang="en-IN" dirty="0"/>
          </a:p>
        </p:txBody>
      </p:sp>
      <p:pic>
        <p:nvPicPr>
          <p:cNvPr id="3" name="Picture 2">
            <a:extLst>
              <a:ext uri="{FF2B5EF4-FFF2-40B4-BE49-F238E27FC236}">
                <a16:creationId xmlns:a16="http://schemas.microsoft.com/office/drawing/2014/main" id="{0D9E3208-F039-C45C-774A-48D19B4B72F6}"/>
              </a:ext>
            </a:extLst>
          </p:cNvPr>
          <p:cNvPicPr>
            <a:picLocks noChangeAspect="1"/>
          </p:cNvPicPr>
          <p:nvPr/>
        </p:nvPicPr>
        <p:blipFill>
          <a:blip r:embed="rId3"/>
          <a:stretch>
            <a:fillRect/>
          </a:stretch>
        </p:blipFill>
        <p:spPr>
          <a:xfrm>
            <a:off x="675956" y="2422358"/>
            <a:ext cx="8452001" cy="432018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201586"/>
            <a:ext cx="7851501" cy="603151"/>
          </a:xfrm>
        </p:spPr>
        <p:txBody>
          <a:bodyPr>
            <a:normAutofit fontScale="85000" lnSpcReduction="10000"/>
          </a:bodyPr>
          <a:lstStyle/>
          <a:p>
            <a:pPr marL="0" indent="0">
              <a:buNone/>
            </a:pPr>
            <a:r>
              <a:rPr lang="en-US" dirty="0"/>
              <a:t>Below screenshot </a:t>
            </a:r>
            <a:r>
              <a:rPr lang="en-IN" dirty="0"/>
              <a:t>Demonstrates the direct positive link between rising atmospheric humidity and increased crop vulnerability to pests and diseases </a:t>
            </a:r>
            <a:r>
              <a:rPr lang="en-US" dirty="0"/>
              <a:t> </a:t>
            </a:r>
            <a:endParaRPr lang="en-IN" dirty="0"/>
          </a:p>
        </p:txBody>
      </p:sp>
      <p:pic>
        <p:nvPicPr>
          <p:cNvPr id="3" name="Picture 2">
            <a:extLst>
              <a:ext uri="{FF2B5EF4-FFF2-40B4-BE49-F238E27FC236}">
                <a16:creationId xmlns:a16="http://schemas.microsoft.com/office/drawing/2014/main" id="{FAB23063-A4A8-8496-B2CF-A7541C11DE76}"/>
              </a:ext>
            </a:extLst>
          </p:cNvPr>
          <p:cNvPicPr>
            <a:picLocks noChangeAspect="1"/>
          </p:cNvPicPr>
          <p:nvPr/>
        </p:nvPicPr>
        <p:blipFill>
          <a:blip r:embed="rId3"/>
          <a:stretch>
            <a:fillRect/>
          </a:stretch>
        </p:blipFill>
        <p:spPr>
          <a:xfrm>
            <a:off x="490362" y="2326105"/>
            <a:ext cx="7282038" cy="453189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3" y="1431693"/>
            <a:ext cx="7229932" cy="477520"/>
          </a:xfrm>
        </p:spPr>
        <p:txBody>
          <a:bodyPr>
            <a:normAutofit fontScale="70000" lnSpcReduction="20000"/>
          </a:bodyPr>
          <a:lstStyle/>
          <a:p>
            <a:pPr marL="0" indent="0">
              <a:buNone/>
            </a:pPr>
            <a:r>
              <a:rPr lang="en-US" dirty="0"/>
              <a:t>This </a:t>
            </a:r>
            <a:r>
              <a:rPr lang="en-IN" dirty="0"/>
              <a:t>Demonstrates how higher rainfall directly boosts crop yield up to an optimal threshold across different seasons</a:t>
            </a:r>
          </a:p>
        </p:txBody>
      </p:sp>
      <p:pic>
        <p:nvPicPr>
          <p:cNvPr id="3" name="Picture 2">
            <a:extLst>
              <a:ext uri="{FF2B5EF4-FFF2-40B4-BE49-F238E27FC236}">
                <a16:creationId xmlns:a16="http://schemas.microsoft.com/office/drawing/2014/main" id="{2800E074-B16F-4B4B-CA6E-9C958A025CA3}"/>
              </a:ext>
            </a:extLst>
          </p:cNvPr>
          <p:cNvPicPr>
            <a:picLocks noChangeAspect="1"/>
          </p:cNvPicPr>
          <p:nvPr/>
        </p:nvPicPr>
        <p:blipFill>
          <a:blip r:embed="rId3"/>
          <a:stretch>
            <a:fillRect/>
          </a:stretch>
        </p:blipFill>
        <p:spPr>
          <a:xfrm>
            <a:off x="807164" y="2194156"/>
            <a:ext cx="7521592" cy="466384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3"/>
            <a:ext cx="7216221" cy="477520"/>
          </a:xfrm>
        </p:spPr>
        <p:txBody>
          <a:bodyPr>
            <a:normAutofit fontScale="70000" lnSpcReduction="20000"/>
          </a:bodyPr>
          <a:lstStyle/>
          <a:p>
            <a:pPr marL="0" indent="0">
              <a:buNone/>
            </a:pPr>
            <a:r>
              <a:rPr lang="en-IN" dirty="0"/>
              <a:t>Illustrates total financial returns per season, revealing severe margin drops during the dry Zaid period.</a:t>
            </a:r>
          </a:p>
        </p:txBody>
      </p:sp>
      <p:pic>
        <p:nvPicPr>
          <p:cNvPr id="3" name="Picture 2">
            <a:extLst>
              <a:ext uri="{FF2B5EF4-FFF2-40B4-BE49-F238E27FC236}">
                <a16:creationId xmlns:a16="http://schemas.microsoft.com/office/drawing/2014/main" id="{00D9104E-90E1-BAC8-1C3C-5C3791F3CD8D}"/>
              </a:ext>
            </a:extLst>
          </p:cNvPr>
          <p:cNvPicPr>
            <a:picLocks noChangeAspect="1"/>
          </p:cNvPicPr>
          <p:nvPr/>
        </p:nvPicPr>
        <p:blipFill>
          <a:blip r:embed="rId3"/>
          <a:stretch>
            <a:fillRect/>
          </a:stretch>
        </p:blipFill>
        <p:spPr>
          <a:xfrm>
            <a:off x="478931" y="2194156"/>
            <a:ext cx="7544454" cy="466384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66A9CA53-92CF-274E-2EE9-953C3C886BEA}"/>
              </a:ext>
            </a:extLst>
          </p:cNvPr>
          <p:cNvSpPr txBox="1"/>
          <p:nvPr/>
        </p:nvSpPr>
        <p:spPr>
          <a:xfrm>
            <a:off x="417095" y="1275372"/>
            <a:ext cx="8732920" cy="2308324"/>
          </a:xfrm>
          <a:prstGeom prst="rect">
            <a:avLst/>
          </a:prstGeom>
          <a:noFill/>
        </p:spPr>
        <p:txBody>
          <a:bodyPr wrap="square">
            <a:spAutoFit/>
          </a:bodyPr>
          <a:lstStyle/>
          <a:p>
            <a:pPr marL="342900" lvl="0" indent="-342900">
              <a:buFont typeface="Arial" panose="020B0604020202020204" pitchFamily="34" charset="0"/>
              <a:buChar char="•"/>
            </a:pPr>
            <a:r>
              <a:rPr lang="en-IN" b="1" dirty="0"/>
              <a:t>Predictive Modeling</a:t>
            </a:r>
            <a:r>
              <a:rPr lang="en-IN" dirty="0"/>
              <a:t>: Implement machine learning algorithms (e.g., Random Forest, XGBoost) to predict crop yields and financial returns based on real-time weather inputs.</a:t>
            </a:r>
          </a:p>
          <a:p>
            <a:pPr marL="342900" lvl="0" indent="-342900">
              <a:buFont typeface="Arial" panose="020B0604020202020204" pitchFamily="34" charset="0"/>
              <a:buChar char="•"/>
            </a:pPr>
            <a:r>
              <a:rPr lang="en-IN" b="1" dirty="0"/>
              <a:t>Interactive Dashboard</a:t>
            </a:r>
            <a:r>
              <a:rPr lang="en-IN" dirty="0"/>
              <a:t>: Build an interactive web application using Streamlit or Dash to allow non-technical stakeholders to dynamically filter and visualize seasonal trends.</a:t>
            </a:r>
          </a:p>
          <a:p>
            <a:pPr marL="342900" lvl="0" indent="-342900">
              <a:buFont typeface="Arial" panose="020B0604020202020204" pitchFamily="34" charset="0"/>
              <a:buChar char="•"/>
            </a:pPr>
            <a:r>
              <a:rPr lang="en-IN" b="1" dirty="0"/>
              <a:t>Geographic &amp; Soil Mapping</a:t>
            </a:r>
            <a:r>
              <a:rPr lang="en-IN" dirty="0"/>
              <a:t>: Incorporate geospatial analytics (GIS) to map soil quality and regional yield variances across states and districts.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77605"/>
            <a:ext cx="7232875" cy="646331"/>
          </a:xfrm>
          <a:prstGeom prst="rect">
            <a:avLst/>
          </a:prstGeom>
          <a:noFill/>
        </p:spPr>
        <p:txBody>
          <a:bodyPr wrap="square">
            <a:spAutoFit/>
          </a:bodyPr>
          <a:lstStyle/>
          <a:p>
            <a:r>
              <a:rPr lang="en-US" dirty="0"/>
              <a:t>https://github.com/Harshit07-ux-dev/-Seasonal-Agriculture-Performance-Analysis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a:t>VOIS Course completion certificate - </a:t>
            </a:r>
            <a:br>
              <a:rPr lang="en-IN" sz="3200"/>
            </a:br>
            <a:r>
              <a:rPr lang="en-IN" sz="3200"/>
              <a:t>Course name- Data Visualization </a:t>
            </a:r>
            <a:endParaRPr lang="en-IN" sz="3200" dirty="0"/>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92945FC-FBFF-16D1-C974-4409B359DD5D}"/>
              </a:ext>
            </a:extLst>
          </p:cNvPr>
          <p:cNvPicPr>
            <a:picLocks noChangeAspect="1"/>
          </p:cNvPicPr>
          <p:nvPr/>
        </p:nvPicPr>
        <p:blipFill>
          <a:blip r:embed="rId3"/>
          <a:stretch>
            <a:fillRect/>
          </a:stretch>
        </p:blipFill>
        <p:spPr>
          <a:xfrm>
            <a:off x="977357" y="1608410"/>
            <a:ext cx="7869865" cy="505966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1513</TotalTime>
  <Words>576</Words>
  <Application>Microsoft Office PowerPoint</Application>
  <PresentationFormat>Widescreen</PresentationFormat>
  <Paragraphs>38</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 Narrow</vt:lpstr>
      <vt:lpstr>Arial</vt:lpstr>
      <vt:lpstr>Calibri</vt:lpstr>
      <vt:lpstr>Trebuchet MS</vt:lpstr>
      <vt:lpstr>Wingdings</vt:lpstr>
      <vt:lpstr>Wingdings 3</vt:lpstr>
      <vt:lpstr>Facet</vt:lpstr>
      <vt:lpstr>Project Title - Seasonal Agriculture Performance Analysis</vt:lpstr>
      <vt:lpstr>PROBLEM  STATEMENT</vt:lpstr>
      <vt:lpstr>Project Description -:  This project provides a data-driven investigation into seasonal variations in agricultural performance using advanced data analytics techniques. Agricultural outcomes are heavily influenced by environmental conditions, resource inputs, and farming practices, leading to distinct performance fluctuations across seasons like Kharif, Rabi, and Zaid. The raw dataset was processed cleaned, and analyzed to evaluate key metrics including yield, revenue, net profit, water efficiency, and pest/disease risk. Through exploratory data analysis and statistical visualization, the project highlights critical seasonal trends, identifies loss-making patterns during dry months, and delivers actionable, evidence-based recommendations for crop planning and resource management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Harshit Suryawanshi</cp:lastModifiedBy>
  <cp:revision>103</cp:revision>
  <dcterms:created xsi:type="dcterms:W3CDTF">2021-07-11T13:13:15Z</dcterms:created>
  <dcterms:modified xsi:type="dcterms:W3CDTF">2026-09-14T14:22:44Z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